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Hoje</c:v>
                </c:pt>
              </c:strCache>
            </c:strRef>
          </c:tx>
          <c:spPr>
            <a:solidFill>
              <a:srgbClr val="9A7A15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6586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Distribuição</c:v>
                  </c:pt>
                  <c:pt idx="1">
                    <c:v>1º contato</c:v>
                  </c:pt>
                  <c:pt idx="2">
                    <c:v>Qualificação</c:v>
                  </c:pt>
                  <c:pt idx="3">
                    <c:v>Vira conversa</c:v>
                  </c:pt>
                  <c:pt idx="4">
                    <c:v>Agendamento</c:v>
                  </c:pt>
                  <c:pt idx="5">
                    <c:v>Comparecimento</c:v>
                  </c:pt>
                  <c:pt idx="6">
                    <c:v>Pasta / proposta</c:v>
                  </c:pt>
                  <c:pt idx="7">
                    <c:v>Fechamento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92.6</c:v>
                </c:pt>
                <c:pt idx="1">
                  <c:v>65.8</c:v>
                </c:pt>
                <c:pt idx="2">
                  <c:v>91.6</c:v>
                </c:pt>
                <c:pt idx="3">
                  <c:v>93.4</c:v>
                </c:pt>
                <c:pt idx="4">
                  <c:v>5.4</c:v>
                </c:pt>
                <c:pt idx="5">
                  <c:v>79.8</c:v>
                </c:pt>
                <c:pt idx="6">
                  <c:v>87</c:v>
                </c:pt>
                <c:pt idx="7">
                  <c:v>45.3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Meta da casa</c:v>
                </c:pt>
              </c:strCache>
            </c:strRef>
          </c:tx>
          <c:spPr>
            <a:solidFill>
              <a:srgbClr val="C3CCD9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6586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Distribuição</c:v>
                  </c:pt>
                  <c:pt idx="1">
                    <c:v>1º contato</c:v>
                  </c:pt>
                  <c:pt idx="2">
                    <c:v>Qualificação</c:v>
                  </c:pt>
                  <c:pt idx="3">
                    <c:v>Vira conversa</c:v>
                  </c:pt>
                  <c:pt idx="4">
                    <c:v>Agendamento</c:v>
                  </c:pt>
                  <c:pt idx="5">
                    <c:v>Comparecimento</c:v>
                  </c:pt>
                  <c:pt idx="6">
                    <c:v>Pasta / proposta</c:v>
                  </c:pt>
                  <c:pt idx="7">
                    <c:v>Fechamento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100</c:v>
                </c:pt>
                <c:pt idx="1">
                  <c:v>50</c:v>
                </c:pt>
                <c:pt idx="2">
                  <c:v>50</c:v>
                </c:pt>
                <c:pt idx="3">
                  <c:v>90</c:v>
                </c:pt>
                <c:pt idx="4">
                  <c:v>70</c:v>
                </c:pt>
                <c:pt idx="5">
                  <c:v>65</c:v>
                </c:pt>
                <c:pt idx="6">
                  <c:v>75</c:v>
                </c:pt>
                <c:pt idx="7">
                  <c:v>30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46586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4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</c:scaling>
        <c:delete val="0"/>
        <c:axPos val="b"/>
        <c:majorGridlines>
          <c:spPr>
            <a:ln w="12700" cap="flat">
              <a:solidFill>
                <a:srgbClr val="E6E2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C8DA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46586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Hoje não é uma cobrança — é a entrega de um sistema que passou a funcionar.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Diga isto com todas as letras: pedir obediência a um sistema quebrado teria sido injusto. Agora não 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Comece elogiando, porque os dados elogiam. Isso compra atenção para o slide seguinte.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Sete verdes, uma vermelha. Deixe o time absorver: não precisam melhorar em sete coisas.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slide central do deck. Se o time sair lembrando de um número, que seja 13x.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Faça o time repetir em voz alta. Role-play de 5 minutos aqui vale mais que o resto do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a sala costuma ficar em silêncio. Deixe ficar. 6 contra 6.550 é a diferença entre um mês bom e um mês perdido.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meta de atividade é captação, não toque. A venda é consequência.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corretor que abre a Base de leads para 'procurar alguém' desligou o motor de priorização.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Exceção única: lead novo com SLA correndo interrompe qualquer coisa. O relógio dele é irreversível.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o time levar só uma regra deste deck, é esta.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para abrirem o celular e registrarem um desfecho agora, na sala.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estouros de SLA no mesmo dia pausam o corretor no lead quente até o dia seguinte.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Tire a ansiedade de cima deles: ninguém precisa dominar 60 telas.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Checkpoints automáticos às 12h, 15h e 17h avisam se o ritmo está abaixo.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cinco nunca são todos consequência de um só: não registrar.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Simples de cobrar e simples de cumprir. É o ritual de fechamento do 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última linha é o que faz o time aceitar o resto. Leia em voz 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Meta inatingível destrói adesão. Prazo honesto constrói.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pedindo o compromisso em voz alta, um a um. Compromisso dito na frente dos colegas adere.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74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8B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METRO QUADRADO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86000"/>
            <a:ext cx="9692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usar o CRM</a:t>
            </a:r>
            <a:endParaRPr lang="en-US" sz="48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vender toda semana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434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do corretor  ·  Setembro de 2026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5029200"/>
            <a:ext cx="1371600" cy="45720"/>
          </a:xfrm>
          <a:prstGeom prst="rect">
            <a:avLst/>
          </a:prstGeom>
          <a:solidFill>
            <a:srgbClr val="D8B94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8B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6766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pedir qualquer coisa</a:t>
            </a:r>
            <a:endParaRPr lang="en-US" sz="3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vocês, consertamos o que</a:t>
            </a:r>
            <a:endParaRPr lang="en-US" sz="3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estava quebrado.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42900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três meses o CRM pediu coisas que ele mesmo não conseguia sustentar. Isso acabou.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35240" y="1234440"/>
            <a:ext cx="3886200" cy="859536"/>
          </a:xfrm>
          <a:prstGeom prst="roundRect">
            <a:avLst>
              <a:gd name="adj" fmla="val 8511"/>
            </a:avLst>
          </a:prstGeom>
          <a:solidFill>
            <a:srgbClr val="1B3760"/>
          </a:solidFill>
          <a:ln w="12700">
            <a:solidFill>
              <a:srgbClr val="2C4C7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18120" y="1234440"/>
            <a:ext cx="365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8B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1234440"/>
            <a:ext cx="31546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régua de follow-up  </a:t>
            </a:r>
            <a:pPr indent="0" marL="0">
              <a:buNone/>
            </a:pPr>
            <a:r>
              <a:rPr lang="en-US" sz="115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criava tarefa e nunca fechava — 96% venciam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635240" y="2258568"/>
            <a:ext cx="3886200" cy="859536"/>
          </a:xfrm>
          <a:prstGeom prst="roundRect">
            <a:avLst>
              <a:gd name="adj" fmla="val 8511"/>
            </a:avLst>
          </a:prstGeom>
          <a:solidFill>
            <a:srgbClr val="1B3760"/>
          </a:solidFill>
          <a:ln w="12700">
            <a:solidFill>
              <a:srgbClr val="2C4C7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18120" y="2258568"/>
            <a:ext cx="365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8B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258568"/>
            <a:ext cx="31546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“Cliente respondeu”  </a:t>
            </a:r>
            <a:pPr indent="0" marL="0">
              <a:buNone/>
            </a:pPr>
            <a:r>
              <a:rPr lang="en-US" sz="115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acendeu: 1 resposta registrada em 90 dias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635240" y="3282696"/>
            <a:ext cx="3886200" cy="859536"/>
          </a:xfrm>
          <a:prstGeom prst="roundRect">
            <a:avLst>
              <a:gd name="adj" fmla="val 8511"/>
            </a:avLst>
          </a:prstGeom>
          <a:solidFill>
            <a:srgbClr val="1B3760"/>
          </a:solidFill>
          <a:ln w="12700">
            <a:solidFill>
              <a:srgbClr val="2C4C7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18120" y="3282696"/>
            <a:ext cx="365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8B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3282696"/>
            <a:ext cx="31546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painel do funil  </a:t>
            </a:r>
            <a:pPr indent="0" marL="0">
              <a:buNone/>
            </a:pPr>
            <a:r>
              <a:rPr lang="en-US" sz="115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existia no banco — ninguém nunca o viu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635240" y="4306824"/>
            <a:ext cx="3886200" cy="859536"/>
          </a:xfrm>
          <a:prstGeom prst="roundRect">
            <a:avLst>
              <a:gd name="adj" fmla="val 8511"/>
            </a:avLst>
          </a:prstGeom>
          <a:solidFill>
            <a:srgbClr val="1B3760"/>
          </a:solidFill>
          <a:ln w="12700">
            <a:solidFill>
              <a:srgbClr val="2C4C7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18120" y="4306824"/>
            <a:ext cx="365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8B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4306824"/>
            <a:ext cx="31546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funil  </a:t>
            </a:r>
            <a:pPr indent="0" marL="0">
              <a:buNone/>
            </a:pPr>
            <a:r>
              <a:rPr lang="en-US" sz="115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somava 43 mil da pré-venda em “aguardando atendimento”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OS DADOS DIZEM DE VOCÊS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notícia que talvez ninguém tenha te contado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0156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CD8C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2402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126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2004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 registradas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5661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8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últimos 12 meses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15968" y="1965960"/>
            <a:ext cx="340156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CD8C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90288" y="22402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R$ 32,2 mi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590288" y="32004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VGV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90288" y="35661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8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 já aprovadas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91856" y="1965960"/>
            <a:ext cx="340156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CD8C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66176" y="22402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8266176" y="32004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 em setembro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66176" y="35661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8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melhor mês do ano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617720"/>
            <a:ext cx="10881360" cy="1051560"/>
          </a:xfrm>
          <a:prstGeom prst="roundRect">
            <a:avLst>
              <a:gd name="adj" fmla="val 7826"/>
            </a:avLst>
          </a:prstGeom>
          <a:solidFill>
            <a:srgbClr val="DFEDE5"/>
          </a:solidFill>
          <a:ln w="12700">
            <a:solidFill>
              <a:srgbClr val="166B4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461772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cada 100 clientes que visitam um empreendimento com vocês, 45 compram. </a:t>
            </a:r>
            <a:pPr indent="0" marL="0">
              <a:buNone/>
            </a:pPr>
            <a:r>
              <a:rPr lang="en-US" sz="1500" dirty="0">
                <a:solidFill>
                  <a:srgbClr val="465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casa fecha muito bem — esse nunca foi o problema.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8 PASSAGENS DO FUNIL · MEDIDO EM 16/09/2026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Sete das oito já estão na meta da casa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91640"/>
          <a:ext cx="77266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686800" y="2286000"/>
            <a:ext cx="2834640" cy="3108960"/>
          </a:xfrm>
          <a:prstGeom prst="roundRect">
            <a:avLst>
              <a:gd name="adj" fmla="val 2903"/>
            </a:avLst>
          </a:prstGeom>
          <a:solidFill>
            <a:srgbClr val="F7E3DF"/>
          </a:solidFill>
          <a:ln w="15875">
            <a:solidFill>
              <a:srgbClr val="A3231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961120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32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ÚNICA FORA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96112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Agendamento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961120" y="32918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A32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5,4%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8961120" y="41605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65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meta de 70%.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65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treze avos do que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65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deveria ser.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GARGALO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 que não vira visita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65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cada 100 conversas ativas, cinco viram visita.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69494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D8C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5146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6.439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4015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parados em “em atendimento”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160520" y="260604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65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maior etapa comercial do funil — maior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65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“aguardando atendimento”. Todos já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65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responderam. Todos já foram qualificados.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4389120"/>
            <a:ext cx="6949440" cy="1371600"/>
          </a:xfrm>
          <a:prstGeom prst="roundRect">
            <a:avLst>
              <a:gd name="adj" fmla="val 6000"/>
            </a:avLst>
          </a:prstGeom>
          <a:solidFill>
            <a:srgbClr val="F5EBCD"/>
          </a:solidFill>
          <a:ln w="12700">
            <a:solidFill>
              <a:srgbClr val="9A7A1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4553712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65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causa é quase sempre uma só: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486460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se ofereceu a visita.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7955280" y="1691640"/>
            <a:ext cx="3566160" cy="4069080"/>
          </a:xfrm>
          <a:prstGeom prst="roundRect">
            <a:avLst>
              <a:gd name="adj" fmla="val 2308"/>
            </a:avLst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0" y="1965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8B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ISSO VALE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233172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13×</a:t>
            </a:r>
            <a:endParaRPr lang="en-US" sz="7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3657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F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Levar só essa passagem à meta multiplica por treze a conversão da casa inteira.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48006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D8B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mais um lead.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D8B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mais um real de mídia.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8B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FRASE QUE RESOLVE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7863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7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“Separei duas opções que</a:t>
            </a:r>
            <a:endParaRPr lang="en-US" sz="3400" dirty="0"/>
          </a:p>
          <a:p>
            <a:pPr indent="0" marL="0">
              <a:lnSpc>
                <a:spcPts val="47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cabem na sua renda.</a:t>
            </a:r>
            <a:endParaRPr lang="en-US" sz="3400" dirty="0"/>
          </a:p>
          <a:p>
            <a:pPr indent="0" marL="0">
              <a:lnSpc>
                <a:spcPts val="47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prefere conhecer</a:t>
            </a:r>
            <a:endParaRPr lang="en-US" sz="3400" dirty="0"/>
          </a:p>
          <a:p>
            <a:pPr indent="0" marL="0">
              <a:lnSpc>
                <a:spcPts val="47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sábado de manhã ou</a:t>
            </a:r>
            <a:endParaRPr lang="en-US" sz="3400" dirty="0"/>
          </a:p>
          <a:p>
            <a:pPr indent="0" marL="0">
              <a:lnSpc>
                <a:spcPts val="47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sábado à tarde?”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778240" y="1920240"/>
            <a:ext cx="2743200" cy="2788920"/>
          </a:xfrm>
          <a:prstGeom prst="roundRect">
            <a:avLst>
              <a:gd name="adj" fmla="val 3000"/>
            </a:avLst>
          </a:prstGeom>
          <a:solidFill>
            <a:srgbClr val="1B3760"/>
          </a:solidFill>
          <a:ln w="15875">
            <a:solidFill>
              <a:srgbClr val="D8B9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06840" y="217627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900" b="1" dirty="0">
                <a:solidFill>
                  <a:srgbClr val="D8B9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opções</a:t>
            </a:r>
            <a:endParaRPr lang="en-US" sz="19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900" b="1" dirty="0">
                <a:solidFill>
                  <a:srgbClr val="D8B9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horário.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9006840" y="3035808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“quer visitar?”.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aberta devolve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“vou pensar”. Duas opções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devolvem um dia.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120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B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toda conversa ativa. Sem exceção.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SAFRA DE 6 MESES · 32.552 LEADS, 82 VENDAS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a venda realmente vem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14600" cy="2331720"/>
          </a:xfrm>
          <a:prstGeom prst="roundRect">
            <a:avLst>
              <a:gd name="adj" fmla="val 3529"/>
            </a:avLst>
          </a:prstGeom>
          <a:solidFill>
            <a:srgbClr val="DFEDE5"/>
          </a:solidFill>
          <a:ln w="12700">
            <a:solidFill>
              <a:srgbClr val="166B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9456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66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10896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8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por venda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4747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Indicação e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carteira própria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01568" y="1920240"/>
            <a:ext cx="2514600" cy="2331720"/>
          </a:xfrm>
          <a:prstGeom prst="roundRect">
            <a:avLst>
              <a:gd name="adj" fmla="val 3529"/>
            </a:avLst>
          </a:prstGeom>
          <a:solidFill>
            <a:srgbClr val="DFEDE5"/>
          </a:solidFill>
          <a:ln w="12700">
            <a:solidFill>
              <a:srgbClr val="166B4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30168" y="219456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66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000" dirty="0"/>
          </a:p>
        </p:txBody>
      </p:sp>
      <p:sp>
        <p:nvSpPr>
          <p:cNvPr id="10" name="Text 8"/>
          <p:cNvSpPr txBox="1"/>
          <p:nvPr/>
        </p:nvSpPr>
        <p:spPr>
          <a:xfrm>
            <a:off x="3630168" y="310896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8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por venda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630168" y="34747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que VOCÊ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capta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63056" y="1920240"/>
            <a:ext cx="251460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D8C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91656" y="219456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4658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413</a:t>
            </a:r>
            <a:endParaRPr lang="en-US" sz="5000" dirty="0"/>
          </a:p>
        </p:txBody>
      </p:sp>
      <p:sp>
        <p:nvSpPr>
          <p:cNvPr id="14" name="Text 12"/>
          <p:cNvSpPr txBox="1"/>
          <p:nvPr/>
        </p:nvSpPr>
        <p:spPr>
          <a:xfrm>
            <a:off x="6391656" y="310896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8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por venda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391656" y="34747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924544" y="1920240"/>
            <a:ext cx="2514600" cy="2331720"/>
          </a:xfrm>
          <a:prstGeom prst="roundRect">
            <a:avLst>
              <a:gd name="adj" fmla="val 3529"/>
            </a:avLst>
          </a:prstGeom>
          <a:solidFill>
            <a:srgbClr val="F7E3DF"/>
          </a:solidFill>
          <a:ln w="12700">
            <a:solidFill>
              <a:srgbClr val="A3231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53144" y="219456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A32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6.550</a:t>
            </a:r>
            <a:endParaRPr lang="en-US" sz="3800" dirty="0"/>
          </a:p>
        </p:txBody>
      </p:sp>
      <p:sp>
        <p:nvSpPr>
          <p:cNvPr id="18" name="Text 16"/>
          <p:cNvSpPr txBox="1"/>
          <p:nvPr/>
        </p:nvSpPr>
        <p:spPr>
          <a:xfrm>
            <a:off x="9153144" y="310896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8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por venda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9153144" y="34747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importada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4617720"/>
            <a:ext cx="10881360" cy="1234440"/>
          </a:xfrm>
          <a:prstGeom prst="roundRect">
            <a:avLst>
              <a:gd name="adj" fmla="val 6667"/>
            </a:avLst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5840" y="4617720"/>
            <a:ext cx="10149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8B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 dos leads gera 83% das vendas.  </a:t>
            </a:r>
            <a:pPr indent="0" marL="0">
              <a:buNone/>
            </a:pPr>
            <a:r>
              <a:rPr lang="en-US" sz="1500" dirty="0">
                <a:solidFill>
                  <a:srgbClr val="CF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mesma casa, o mesmo produto e o mesmo CRM. Muda só a origem.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8B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PORTANTO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132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Capte 2 clientes</a:t>
            </a:r>
            <a:endParaRPr lang="en-US" sz="46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dia útil.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38328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F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Indicação de cliente. Ex-cliente. Porta. Parceria. Sua rede.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F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por dia = seis por semana = uma venda por semana.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4572000"/>
            <a:ext cx="7132320" cy="1005840"/>
          </a:xfrm>
          <a:prstGeom prst="roundRect">
            <a:avLst>
              <a:gd name="adj" fmla="val 8182"/>
            </a:avLst>
          </a:prstGeom>
          <a:solidFill>
            <a:srgbClr val="1B3760"/>
          </a:solidFill>
          <a:ln w="12700">
            <a:solidFill>
              <a:srgbClr val="2C4C7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4572000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Trabalhar a base continua valendo — mas não é o que decide sua semana.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0" y="1554480"/>
            <a:ext cx="1143000" cy="1143000"/>
          </a:xfrm>
          <a:prstGeom prst="ellipse">
            <a:avLst/>
          </a:prstGeom>
          <a:solidFill>
            <a:srgbClr val="D8B944"/>
          </a:solidFill>
          <a:ln w="15875">
            <a:solidFill>
              <a:srgbClr val="D8B9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0" y="155448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8686800" y="2926080"/>
            <a:ext cx="1143000" cy="1143000"/>
          </a:xfrm>
          <a:prstGeom prst="ellipse">
            <a:avLst/>
          </a:prstGeom>
          <a:solidFill>
            <a:srgbClr val="1B3760"/>
          </a:solidFill>
          <a:ln w="15875">
            <a:solidFill>
              <a:srgbClr val="D8B9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0" y="292608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8B9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686800" y="4297680"/>
            <a:ext cx="1143000" cy="1143000"/>
          </a:xfrm>
          <a:prstGeom prst="ellipse">
            <a:avLst/>
          </a:prstGeom>
          <a:solidFill>
            <a:srgbClr val="1B3760"/>
          </a:solidFill>
          <a:ln w="15875">
            <a:solidFill>
              <a:srgbClr val="D8B94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0" y="429768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8B9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SISTEMA FUNCIONA AGORA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não escolhe o cliente. A fila escolhe.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667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465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CRM comum você abre uma lista e decide quem chamar. Aqui o sistema decide — e decide melhor, porque sabe quantos dias cada cliente está parado, em que etapa está, quanto dinheiro está em jogo e quem prometeu voltar quando.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6675120" cy="1234440"/>
          </a:xfrm>
          <a:prstGeom prst="roundRect">
            <a:avLst>
              <a:gd name="adj" fmla="val 6667"/>
            </a:avLst>
          </a:prstGeom>
          <a:solidFill>
            <a:srgbClr val="F5EBCD"/>
          </a:solidFill>
          <a:ln w="12700">
            <a:solidFill>
              <a:srgbClr val="9A7A1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3291840"/>
            <a:ext cx="6035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Seu trabalho não é escolher.</a:t>
            </a:r>
            <a:endParaRPr lang="en-US" sz="22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executar e registrar.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70916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C8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memória perde clientes. A fila não.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26680" y="1783080"/>
            <a:ext cx="3794760" cy="3931920"/>
          </a:xfrm>
          <a:prstGeom prst="roundRect">
            <a:avLst>
              <a:gd name="adj" fmla="val 2169"/>
            </a:avLst>
          </a:prstGeom>
          <a:solidFill>
            <a:srgbClr val="FFFFFF"/>
          </a:solidFill>
          <a:ln w="12700">
            <a:solidFill>
              <a:srgbClr val="DCD8C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0" y="20116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C8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0" y="2395728"/>
            <a:ext cx="347472" cy="347472"/>
          </a:xfrm>
          <a:prstGeom prst="ellipse">
            <a:avLst/>
          </a:prstGeom>
          <a:solidFill>
            <a:srgbClr val="D8B94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46720" y="2395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503920" y="239572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65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CRM identifica a prioridade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3035808"/>
            <a:ext cx="347472" cy="347472"/>
          </a:xfrm>
          <a:prstGeom prst="ellipse">
            <a:avLst/>
          </a:prstGeom>
          <a:solidFill>
            <a:srgbClr val="D8B94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0" y="3035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303580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executa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46720" y="3675888"/>
            <a:ext cx="347472" cy="347472"/>
          </a:xfrm>
          <a:prstGeom prst="ellipse">
            <a:avLst/>
          </a:prstGeom>
          <a:solidFill>
            <a:srgbClr val="D8B94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46720" y="3675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367588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65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CRM registra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46720" y="4315968"/>
            <a:ext cx="347472" cy="347472"/>
          </a:xfrm>
          <a:prstGeom prst="ellipse">
            <a:avLst/>
          </a:prstGeom>
          <a:solidFill>
            <a:srgbClr val="D8B94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046720" y="4315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503920" y="431596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65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CRM cria a próxima ação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046720" y="4956048"/>
            <a:ext cx="347472" cy="347472"/>
          </a:xfrm>
          <a:prstGeom prst="ellipse">
            <a:avLst/>
          </a:prstGeom>
          <a:solidFill>
            <a:srgbClr val="D8B94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046720" y="4956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8503920" y="495604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executa de novo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FILA ÚNICA · DE CIMA PARA BAIXO, SEM ESCOLHER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ordem em que o dinheiro está em risco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02336" cy="402336"/>
          </a:xfrm>
          <a:prstGeom prst="ellipse">
            <a:avLst/>
          </a:prstGeom>
          <a:solidFill>
            <a:srgbClr val="D8B94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78308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 do funil parado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394960" y="178308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65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agendado, visita e análise — é onde o dinheiro está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386584"/>
            <a:ext cx="402336" cy="402336"/>
          </a:xfrm>
          <a:prstGeom prst="ellipse">
            <a:avLst/>
          </a:prstGeom>
          <a:solidFill>
            <a:srgbClr val="D8B94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386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2386584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Chegaram agora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2386584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65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SLA de 15 minutos está correndo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990088"/>
            <a:ext cx="402336" cy="402336"/>
          </a:xfrm>
          <a:prstGeom prst="ellipse">
            <a:avLst/>
          </a:prstGeom>
          <a:solidFill>
            <a:srgbClr val="D8B94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2990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2990088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respondeu e espera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2990088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65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falou por último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593592"/>
            <a:ext cx="402336" cy="402336"/>
          </a:xfrm>
          <a:prstGeom prst="ellipse">
            <a:avLst/>
          </a:prstGeom>
          <a:solidFill>
            <a:srgbClr val="D8B94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593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3593592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vencido ou de hoje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5394960" y="3593592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65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combinou de voltar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197096"/>
            <a:ext cx="402336" cy="402336"/>
          </a:xfrm>
          <a:prstGeom prst="ellipse">
            <a:avLst/>
          </a:prstGeom>
          <a:solidFill>
            <a:srgbClr val="D8B94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41970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207008" y="4197096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próximo passo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5394960" y="4197096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65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terminar o dia em zero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800600"/>
            <a:ext cx="402336" cy="402336"/>
          </a:xfrm>
          <a:prstGeom prst="ellipse">
            <a:avLst/>
          </a:prstGeom>
          <a:solidFill>
            <a:srgbClr val="D8B94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4800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1207008" y="480060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Esfriando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5394960" y="480060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65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quente ou morno sem contato há 3+ dias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5404104"/>
            <a:ext cx="402336" cy="402336"/>
          </a:xfrm>
          <a:prstGeom prst="ellipse">
            <a:avLst/>
          </a:prstGeom>
          <a:solidFill>
            <a:srgbClr val="D8B94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" y="5404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1207008" y="5404104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Pasta travada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5394960" y="5404104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65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pendente segurando a análise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0080" y="6053328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5EBCD"/>
          </a:solidFill>
          <a:ln w="12700">
            <a:solidFill>
              <a:srgbClr val="9A7A1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14400" y="605332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cliente em análise de crédito parado há 66 dias vale mais que 200 leads frios novos.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QUE SUSTENTA TUDO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três portas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65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só sai da ficha de um cliente por uma destas três portas: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401568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D8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542032"/>
            <a:ext cx="502920" cy="502920"/>
          </a:xfrm>
          <a:prstGeom prst="ellipse">
            <a:avLst/>
          </a:prstGeom>
          <a:solidFill>
            <a:srgbClr val="D8B94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004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Desfecho registrado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6118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65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próximo passo E data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15968" y="2286000"/>
            <a:ext cx="3401568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D8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0288" y="2542032"/>
            <a:ext cx="502920" cy="502920"/>
          </a:xfrm>
          <a:prstGeom prst="ellipse">
            <a:avLst/>
          </a:prstGeom>
          <a:solidFill>
            <a:srgbClr val="D8B94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90288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32004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Agendamento criado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590288" y="36118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65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mudar o status não é agendar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91856" y="2286000"/>
            <a:ext cx="3401568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D8C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66176" y="2542032"/>
            <a:ext cx="502920" cy="502920"/>
          </a:xfrm>
          <a:prstGeom prst="ellipse">
            <a:avLst/>
          </a:prstGeom>
          <a:solidFill>
            <a:srgbClr val="D8B94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66176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266176" y="32004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Perdido, com motivo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266176" y="36118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65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das onze categorias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572000"/>
            <a:ext cx="10881360" cy="1188720"/>
          </a:xfrm>
          <a:prstGeom prst="roundRect">
            <a:avLst>
              <a:gd name="adj" fmla="val 6923"/>
            </a:avLst>
          </a:prstGeom>
          <a:solidFill>
            <a:srgbClr val="F7E3DF"/>
          </a:solidFill>
          <a:ln w="15875">
            <a:solidFill>
              <a:srgbClr val="A3231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5840" y="4572000"/>
            <a:ext cx="10149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32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existe a porta (d) “fechei a tela”.</a:t>
            </a:r>
            <a:endParaRPr lang="en-US" sz="2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GESTO CENTRAL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botão Registrar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465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cada card da fila. Abre “o que aconteceu?” com 3 a 5 respostas prontas, adequadas àquela situação. Você escolhe uma. Pronto.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548640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DCD8C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9443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C8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ELE GRAVA, DE UMA VEZ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3101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 conversa no histórico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71246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 objeção que o cliente levantou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4114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 próxima tarefa, com data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51713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 mudança de etapa, quando cabe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138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C8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 4 segundos e tem desfazer de 5.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92240" y="1737360"/>
            <a:ext cx="5029200" cy="3246120"/>
          </a:xfrm>
          <a:prstGeom prst="roundRect">
            <a:avLst>
              <a:gd name="adj" fmla="val 2535"/>
            </a:avLst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12280" y="19659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8B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ELE DECIDE TUDO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812280" y="230428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o registro, o CRM fica cego: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812280" y="26974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o cliente volta amanhã na sua fila, igual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812280" y="31546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 régua repete o mesmo toque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812280" y="3611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você aparece como “sem próximo passo”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812280" y="40690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sua meta fica sem base de cálculo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513892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desfechos por dia. É o único número que realmente precisa entrar na sua cabeça.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ROTINA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dia em quatro blocos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A7A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08:50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1783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480560" y="17830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65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 → metas do dia → ler o placar da fila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5059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A7A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09:00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4505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dinheiro na mesa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45059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65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 parado → chegaram agora → cliente respondeu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118104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A7A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10:30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311810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régua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311810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65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vencido ou de hoje → sem próximo passo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78561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A7A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13:30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378561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378561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65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Esfriando → pasta travada → oferecer visita em toda conversa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45312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A7A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15:30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45312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Anti-ociosidade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44531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65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→ Modo Foco → Discador → Bolsão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1206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A7A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17:30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645920" y="5120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Fechar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480560" y="5120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65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zeros, e a agenda de amanhã organizada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5897880"/>
            <a:ext cx="10881360" cy="594360"/>
          </a:xfrm>
          <a:prstGeom prst="roundRect">
            <a:avLst>
              <a:gd name="adj" fmla="val 12308"/>
            </a:avLst>
          </a:prstGeom>
          <a:solidFill>
            <a:srgbClr val="F7E3DF"/>
          </a:solidFill>
          <a:ln w="12700">
            <a:solidFill>
              <a:srgbClr val="A3231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58978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única interrupção permitida: lead novo com SLA correndo. São 15 minutos úteis.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CRM TEM DEZENAS DE TELAS · VOCÊ VAI VIVER EM CINCO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cinco que importam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DCD8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984248"/>
            <a:ext cx="420624" cy="420624"/>
          </a:xfrm>
          <a:prstGeom prst="ellipse">
            <a:avLst/>
          </a:prstGeom>
          <a:solidFill>
            <a:srgbClr val="D8B94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288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Fila Única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18288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 que eu faço agora?”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18288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8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sua casa, o dia inteiro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670048"/>
            <a:ext cx="1088136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DCD8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2825496"/>
            <a:ext cx="420624" cy="420624"/>
          </a:xfrm>
          <a:prstGeom prst="ellipse">
            <a:avLst/>
          </a:prstGeom>
          <a:solidFill>
            <a:srgbClr val="D8B94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96112" y="2825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267004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Follow-Up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267004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“quem combinei de retomar?”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0" y="267004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8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régua dos 13 toques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511296"/>
            <a:ext cx="1088136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DCD8C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" y="3666744"/>
            <a:ext cx="420624" cy="420624"/>
          </a:xfrm>
          <a:prstGeom prst="ellipse">
            <a:avLst/>
          </a:prstGeom>
          <a:solidFill>
            <a:srgbClr val="D8B94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96112" y="3666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3511296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4297680" y="3511296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“quais visitas eu tenho?”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0" y="3511296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8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manhã e ao fechar o dia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352544"/>
            <a:ext cx="1088136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DCD8C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6112" y="4507992"/>
            <a:ext cx="420624" cy="420624"/>
          </a:xfrm>
          <a:prstGeom prst="ellipse">
            <a:avLst/>
          </a:prstGeom>
          <a:solidFill>
            <a:srgbClr val="D8B94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96112" y="4507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1508760" y="4352544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Ficha do cliente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4297680" y="4352544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“quem é essa pessoa?”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046720" y="4352544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8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ligar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5193792"/>
            <a:ext cx="1088136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DCD8C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6112" y="5349240"/>
            <a:ext cx="420624" cy="420624"/>
          </a:xfrm>
          <a:prstGeom prst="ellipse">
            <a:avLst/>
          </a:prstGeom>
          <a:solidFill>
            <a:srgbClr val="D8B94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96112" y="5349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1508760" y="519379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Projetos em Foco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4297680" y="519379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 que eu vendo?”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046720" y="519379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8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semana, e a cada produto novo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60533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C8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outras existem e são úteis — Reserva, Bolsão, Discador, Modo Visita. Você chega nelas quando a fila do dia acabar. Nunca antes.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VOCÊ SABE SE O DIA FOI BOM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Seu placar mínimo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146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D8C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0312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85292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65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desfechos registrados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01568" y="1920240"/>
            <a:ext cx="25146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D8C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30168" y="210312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630168" y="285292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65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tocados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3056" y="1920240"/>
            <a:ext cx="25146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D8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91656" y="210312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391656" y="285292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65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captados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24544" y="1920240"/>
            <a:ext cx="25146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D8C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53144" y="210312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153144" y="285292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65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 criado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74904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DFEDE5"/>
          </a:solidFill>
          <a:ln w="12700">
            <a:solidFill>
              <a:srgbClr val="166B4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393192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6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SEMANA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4279392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captações  ·  7 agendamentos  ·  1 venda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6263640" y="3749040"/>
            <a:ext cx="5257800" cy="1417320"/>
          </a:xfrm>
          <a:prstGeom prst="roundRect">
            <a:avLst>
              <a:gd name="adj" fmla="val 5806"/>
            </a:avLst>
          </a:prstGeom>
          <a:solidFill>
            <a:srgbClr val="F7E3DF"/>
          </a:solidFill>
          <a:ln w="12700">
            <a:solidFill>
              <a:srgbClr val="A3231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0" y="393192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32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FIM DO DIA, SEMPRE ZERO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4279392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follow-ups vencidos  ·  clientes sem próximo passo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440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65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CRM calcula sua meta pela SUA conversão — não por um número que alguém inventou. Nos primeiros dias usa a do time, até você ter histórico.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NÃO PERDER CLIENTE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nunca, três sempre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806440" cy="3794760"/>
          </a:xfrm>
          <a:prstGeom prst="roundRect">
            <a:avLst>
              <a:gd name="adj" fmla="val 2169"/>
            </a:avLst>
          </a:prstGeom>
          <a:solidFill>
            <a:srgbClr val="FFFFFF"/>
          </a:solidFill>
          <a:ln w="12700">
            <a:solidFill>
              <a:srgbClr val="A3231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057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A32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NUNCA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56032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 Feche a ficha sem registrar o desfecho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136392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 Mova para “Agendado” sem criar o agendamento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712464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 Deixe um cliente sem próximo passo com data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288536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 Trabalhe lead frio novo antes do fundo do funil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864608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 Deixe cliente morto na carteira — perdido tem motivo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675120" y="1828800"/>
            <a:ext cx="4846320" cy="3794760"/>
          </a:xfrm>
          <a:prstGeom prst="roundRect">
            <a:avLst>
              <a:gd name="adj" fmla="val 2169"/>
            </a:avLst>
          </a:prstGeom>
          <a:solidFill>
            <a:srgbClr val="FFFFFF"/>
          </a:solidFill>
          <a:ln w="12700">
            <a:solidFill>
              <a:srgbClr val="166B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0" y="2057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6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SEMPRE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260604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Ofereça visita com duas opções de horário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338328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Confirme a visita em D-2, D-1 e no dia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416052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Preencha renda, FGTS e faixa MCMV na 1ª conversa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7040880" y="49834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8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comparecimento da casa é de 80% — acima da meta de 65%. Esse protocolo funciona: mantenha.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8B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TESTE DE 30 SEGUNDOS PARA IR EMBORA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F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a fila e olhe o placar.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120640" cy="2606040"/>
          </a:xfrm>
          <a:prstGeom prst="roundRect">
            <a:avLst>
              <a:gd name="adj" fmla="val 4211"/>
            </a:avLst>
          </a:prstGeom>
          <a:solidFill>
            <a:srgbClr val="1B3760"/>
          </a:solidFill>
          <a:ln w="19050">
            <a:solidFill>
              <a:srgbClr val="D8B9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19456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0" b="1" dirty="0">
                <a:solidFill>
                  <a:srgbClr val="D8B9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8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7490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follow-ups vencidos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0" y="1965960"/>
            <a:ext cx="5120640" cy="2606040"/>
          </a:xfrm>
          <a:prstGeom prst="roundRect">
            <a:avLst>
              <a:gd name="adj" fmla="val 4211"/>
            </a:avLst>
          </a:prstGeom>
          <a:solidFill>
            <a:srgbClr val="1B3760"/>
          </a:solidFill>
          <a:ln w="19050">
            <a:solidFill>
              <a:srgbClr val="D8B9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219456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0" b="1" dirty="0">
                <a:solidFill>
                  <a:srgbClr val="D8B9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86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37490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sem próximo passo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dois zeros? Pode ir. Se não, ainda tem dinheiro na mesa.</a:t>
            </a:r>
            <a:endParaRPr lang="en-US" sz="2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ACORDO DE MÃO DUPLA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cada lado se compromete a fazer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3749040"/>
          </a:xfrm>
          <a:prstGeom prst="roundRect">
            <a:avLst>
              <a:gd name="adj" fmla="val 2195"/>
            </a:avLst>
          </a:prstGeom>
          <a:solidFill>
            <a:srgbClr val="FFFFFF"/>
          </a:solidFill>
          <a:ln w="12700">
            <a:solidFill>
              <a:srgbClr val="DCD8C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560320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 e metas antes das 9h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127248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Trabalha a fila de cima para baixo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694176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da ficha só pelas três portas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261104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Oferece visita em toda conversa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828032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 o dia com os dois zeros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1828800"/>
            <a:ext cx="5257800" cy="3749040"/>
          </a:xfrm>
          <a:prstGeom prst="roundRect">
            <a:avLst>
              <a:gd name="adj" fmla="val 2195"/>
            </a:avLst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2940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8B9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CASA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256032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F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CRM diz quem chamar — fila errada é problema nosso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3127248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F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com dono em 1 hora útil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3694176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F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régua calcula o follow-up por você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4261104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F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meta sai da sua conversão, não de um chute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4828032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F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no mesmo dia, não na sexta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80644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5EBCD"/>
          </a:solidFill>
          <a:ln w="12700">
            <a:solidFill>
              <a:srgbClr val="9A7A1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0120" y="580644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corretor é cobrado por um número que o CRM não mostra para ele mesmo, na própria tela, no mesmo dia.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HONESTIDADE SOBRE O PRAZO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venda por semana é o destino, não a largada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8571"/>
            </a:avLst>
          </a:prstGeom>
          <a:solidFill>
            <a:srgbClr val="F7E3DF"/>
          </a:solidFill>
          <a:ln w="12700">
            <a:solidFill>
              <a:srgbClr val="A3231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783080"/>
            <a:ext cx="10241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o melhor corretor da casa faz 0,40 venda por semana. Ninguém aqui chega a 1 ainda — e prometer isso para semana que vem seria mentira.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971800"/>
            <a:ext cx="3401568" cy="1965960"/>
          </a:xfrm>
          <a:prstGeom prst="roundRect">
            <a:avLst>
              <a:gd name="adj" fmla="val 4186"/>
            </a:avLst>
          </a:prstGeom>
          <a:solidFill>
            <a:srgbClr val="F5EBCD"/>
          </a:solidFill>
          <a:ln w="12700">
            <a:solidFill>
              <a:srgbClr val="9A7A1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3200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A7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1 e 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6118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1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captações/semana</a:t>
            </a:r>
            <a:endParaRPr lang="en-US" sz="21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1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+ 1 venda no mês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4315968" y="2971800"/>
            <a:ext cx="3401568" cy="1965960"/>
          </a:xfrm>
          <a:prstGeom prst="roundRect">
            <a:avLst>
              <a:gd name="adj" fmla="val 4186"/>
            </a:avLst>
          </a:prstGeom>
          <a:solidFill>
            <a:srgbClr val="F5EBCD"/>
          </a:solidFill>
          <a:ln w="12700">
            <a:solidFill>
              <a:srgbClr val="9A7A1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90288" y="3200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A7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3 e 4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90288" y="36118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1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venda a cada</a:t>
            </a:r>
            <a:endParaRPr lang="en-US" sz="21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1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semanas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7991856" y="2971800"/>
            <a:ext cx="3401568" cy="1965960"/>
          </a:xfrm>
          <a:prstGeom prst="roundRect">
            <a:avLst>
              <a:gd name="adj" fmla="val 4186"/>
            </a:avLst>
          </a:prstGeom>
          <a:solidFill>
            <a:srgbClr val="DFEDE5"/>
          </a:solidFill>
          <a:ln w="12700">
            <a:solidFill>
              <a:srgbClr val="166B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66176" y="3200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6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6 em diante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66176" y="36118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1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venda</a:t>
            </a:r>
            <a:endParaRPr lang="en-US" sz="21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1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semana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1663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65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meta de atividade é a captação. A venda é consequência — e a consequência chega, se a atividade não falhar.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8B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COMBINADO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Siga exatamente o que</a:t>
            </a:r>
            <a:endParaRPr lang="en-US" sz="40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CRM mandar você fazer.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546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CF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Cumpra os indicadores mínimos todo dia. Execute os follow-ups.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CF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1 venda por semana deixa de ser meta e vira consequência.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4434840"/>
            <a:ext cx="3401568" cy="1234440"/>
          </a:xfrm>
          <a:prstGeom prst="roundRect">
            <a:avLst>
              <a:gd name="adj" fmla="val 7407"/>
            </a:avLst>
          </a:prstGeom>
          <a:solidFill>
            <a:srgbClr val="1B3760"/>
          </a:solidFill>
          <a:ln w="12700">
            <a:solidFill>
              <a:srgbClr val="2C4C7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45262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B9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452628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captações por dia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15968" y="4434840"/>
            <a:ext cx="3401568" cy="1234440"/>
          </a:xfrm>
          <a:prstGeom prst="roundRect">
            <a:avLst>
              <a:gd name="adj" fmla="val 7407"/>
            </a:avLst>
          </a:prstGeom>
          <a:solidFill>
            <a:srgbClr val="1B3760"/>
          </a:solidFill>
          <a:ln w="12700">
            <a:solidFill>
              <a:srgbClr val="2C4C7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36008" y="45262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B9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5687568" y="452628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desfechos por dia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991856" y="4434840"/>
            <a:ext cx="3401568" cy="1234440"/>
          </a:xfrm>
          <a:prstGeom prst="roundRect">
            <a:avLst>
              <a:gd name="adj" fmla="val 7407"/>
            </a:avLst>
          </a:prstGeom>
          <a:solidFill>
            <a:srgbClr val="1B3760"/>
          </a:solidFill>
          <a:ln w="12700">
            <a:solidFill>
              <a:srgbClr val="2C4C7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11896" y="45262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B9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9363456" y="452628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vencidos no fim do dia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Metro Quadrado  ·  Método do Corretor  ·  Setembro de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do CRM SMQ</dc:title>
  <dc:subject>PptxGenJS Presentation</dc:subject>
  <dc:creator>Seu Metro Quadrado</dc:creator>
  <cp:lastModifiedBy>Seu Metro Quadrado</cp:lastModifiedBy>
  <cp:revision>1</cp:revision>
  <dcterms:created xsi:type="dcterms:W3CDTF">2026-09-16T21:12:52Z</dcterms:created>
  <dcterms:modified xsi:type="dcterms:W3CDTF">2026-09-16T21:12:52Z</dcterms:modified>
</cp:coreProperties>
</file>